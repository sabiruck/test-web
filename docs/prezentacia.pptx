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7" r:id="rId1"/>
  </p:sldMasterIdLst>
  <p:notesMasterIdLst>
    <p:notesMasterId r:id="rId11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embeddedFontLst>
    <p:embeddedFont>
      <p:font typeface="Livvic" pitchFamily="2" charset="-18"/>
      <p:regular r:id="rId12"/>
      <p:bold r:id="rId13"/>
      <p:italic r:id="rId14"/>
      <p:boldItalic r:id="rId15"/>
    </p:embeddedFont>
    <p:embeddedFont>
      <p:font typeface="Roboto Condensed Light" panose="02000000000000000000" pitchFamily="2" charset="0"/>
      <p:regular r:id="rId16"/>
      <p:bold r:id="rId17"/>
      <p:italic r:id="rId18"/>
      <p:boldItalic r:id="rId19"/>
    </p:embeddedFont>
    <p:embeddedFont>
      <p:font typeface="Sitka Small Semibold" pitchFamily="2" charset="0"/>
      <p:bold r:id="rId20"/>
      <p:boldItalic r:id="rId21"/>
    </p:embeddedFont>
    <p:embeddedFont>
      <p:font typeface="Squada One" panose="020B0604020202020204" charset="0"/>
      <p:regular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F5C0A6-0551-4EFA-B852-E0887A85B672}">
  <a:tblStyle styleId="{B1F5C0A6-0551-4EFA-B852-E0887A85B6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555f6d730f1d2774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555f6d730f1d2774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>
          <a:extLst>
            <a:ext uri="{FF2B5EF4-FFF2-40B4-BE49-F238E27FC236}">
              <a16:creationId xmlns:a16="http://schemas.microsoft.com/office/drawing/2014/main" id="{668C48F2-0A15-47AF-72AD-6562D6BB1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555f6d730f1d2774_202:notes">
            <a:extLst>
              <a:ext uri="{FF2B5EF4-FFF2-40B4-BE49-F238E27FC236}">
                <a16:creationId xmlns:a16="http://schemas.microsoft.com/office/drawing/2014/main" id="{8FEF6F46-A4CB-B593-176A-B212646ED9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555f6d730f1d2774_202:notes">
            <a:extLst>
              <a:ext uri="{FF2B5EF4-FFF2-40B4-BE49-F238E27FC236}">
                <a16:creationId xmlns:a16="http://schemas.microsoft.com/office/drawing/2014/main" id="{CC6FEB9A-50E5-91AE-5974-E13B3F5F15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0626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>
          <a:extLst>
            <a:ext uri="{FF2B5EF4-FFF2-40B4-BE49-F238E27FC236}">
              <a16:creationId xmlns:a16="http://schemas.microsoft.com/office/drawing/2014/main" id="{8DE8ABD2-3F0B-1532-6C70-9D2A2B62D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555f6d730f1d2774_202:notes">
            <a:extLst>
              <a:ext uri="{FF2B5EF4-FFF2-40B4-BE49-F238E27FC236}">
                <a16:creationId xmlns:a16="http://schemas.microsoft.com/office/drawing/2014/main" id="{47095381-67C3-1D09-B2A9-0CCFC80517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555f6d730f1d2774_202:notes">
            <a:extLst>
              <a:ext uri="{FF2B5EF4-FFF2-40B4-BE49-F238E27FC236}">
                <a16:creationId xmlns:a16="http://schemas.microsoft.com/office/drawing/2014/main" id="{319AA434-1EE0-5805-74C8-DE77BBA33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5432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>
          <a:extLst>
            <a:ext uri="{FF2B5EF4-FFF2-40B4-BE49-F238E27FC236}">
              <a16:creationId xmlns:a16="http://schemas.microsoft.com/office/drawing/2014/main" id="{778EF7BF-CFD8-DEA1-E19E-784C6D86A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555f6d730f1d2774_202:notes">
            <a:extLst>
              <a:ext uri="{FF2B5EF4-FFF2-40B4-BE49-F238E27FC236}">
                <a16:creationId xmlns:a16="http://schemas.microsoft.com/office/drawing/2014/main" id="{14A15098-04A3-F666-4430-32CF87F168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555f6d730f1d2774_202:notes">
            <a:extLst>
              <a:ext uri="{FF2B5EF4-FFF2-40B4-BE49-F238E27FC236}">
                <a16:creationId xmlns:a16="http://schemas.microsoft.com/office/drawing/2014/main" id="{378B6B0F-A4D5-4E32-507C-767438A0E9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61774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>
          <a:extLst>
            <a:ext uri="{FF2B5EF4-FFF2-40B4-BE49-F238E27FC236}">
              <a16:creationId xmlns:a16="http://schemas.microsoft.com/office/drawing/2014/main" id="{14B45185-EB68-47D2-3522-B5FE20942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555f6d730f1d2774_202:notes">
            <a:extLst>
              <a:ext uri="{FF2B5EF4-FFF2-40B4-BE49-F238E27FC236}">
                <a16:creationId xmlns:a16="http://schemas.microsoft.com/office/drawing/2014/main" id="{F107DEFD-9192-E198-09D5-12640C9554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555f6d730f1d2774_202:notes">
            <a:extLst>
              <a:ext uri="{FF2B5EF4-FFF2-40B4-BE49-F238E27FC236}">
                <a16:creationId xmlns:a16="http://schemas.microsoft.com/office/drawing/2014/main" id="{5061A077-D28D-B07D-E943-1AE21EBFC2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0603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>
          <a:extLst>
            <a:ext uri="{FF2B5EF4-FFF2-40B4-BE49-F238E27FC236}">
              <a16:creationId xmlns:a16="http://schemas.microsoft.com/office/drawing/2014/main" id="{452A0446-5181-FD52-9F0C-CFDB13F1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555f6d730f1d2774_202:notes">
            <a:extLst>
              <a:ext uri="{FF2B5EF4-FFF2-40B4-BE49-F238E27FC236}">
                <a16:creationId xmlns:a16="http://schemas.microsoft.com/office/drawing/2014/main" id="{E9FCF74F-66EE-8A14-28F6-DC376FEE4D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555f6d730f1d2774_202:notes">
            <a:extLst>
              <a:ext uri="{FF2B5EF4-FFF2-40B4-BE49-F238E27FC236}">
                <a16:creationId xmlns:a16="http://schemas.microsoft.com/office/drawing/2014/main" id="{6544ABB0-0C53-6D53-0A67-8A25EB26FA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44604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>
          <a:extLst>
            <a:ext uri="{FF2B5EF4-FFF2-40B4-BE49-F238E27FC236}">
              <a16:creationId xmlns:a16="http://schemas.microsoft.com/office/drawing/2014/main" id="{51C7457C-BEE3-DAD9-29D0-1637AD82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555f6d730f1d2774_202:notes">
            <a:extLst>
              <a:ext uri="{FF2B5EF4-FFF2-40B4-BE49-F238E27FC236}">
                <a16:creationId xmlns:a16="http://schemas.microsoft.com/office/drawing/2014/main" id="{B67776AD-7968-F1E4-0049-4AA431D15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555f6d730f1d2774_202:notes">
            <a:extLst>
              <a:ext uri="{FF2B5EF4-FFF2-40B4-BE49-F238E27FC236}">
                <a16:creationId xmlns:a16="http://schemas.microsoft.com/office/drawing/2014/main" id="{F6690CCF-DA3F-47A9-1B71-BC8D99C5F9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6411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>
          <a:extLst>
            <a:ext uri="{FF2B5EF4-FFF2-40B4-BE49-F238E27FC236}">
              <a16:creationId xmlns:a16="http://schemas.microsoft.com/office/drawing/2014/main" id="{A969F419-BCF9-E0BA-64CC-0657001FD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555f6d730f1d2774_202:notes">
            <a:extLst>
              <a:ext uri="{FF2B5EF4-FFF2-40B4-BE49-F238E27FC236}">
                <a16:creationId xmlns:a16="http://schemas.microsoft.com/office/drawing/2014/main" id="{A10417C5-55F5-4348-962C-92BED1BE25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555f6d730f1d2774_202:notes">
            <a:extLst>
              <a:ext uri="{FF2B5EF4-FFF2-40B4-BE49-F238E27FC236}">
                <a16:creationId xmlns:a16="http://schemas.microsoft.com/office/drawing/2014/main" id="{82756B5D-66C2-3B63-0FC6-C16312BCF9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5022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 flipH="1">
            <a:off x="1375550" y="3092475"/>
            <a:ext cx="63930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" y="-399756"/>
            <a:ext cx="9144000" cy="4369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457200" y="2932650"/>
            <a:ext cx="82296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457275" y="3192525"/>
            <a:ext cx="82296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80849" y="-92389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51655" y="39881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255350" y="1454625"/>
            <a:ext cx="6633300" cy="3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25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51926" y="-847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59554" y="-846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0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1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2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1_1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47964" y="31352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984228" y="3055367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quada One"/>
              <a:buNone/>
              <a:defRPr sz="30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 Light"/>
              <a:buChar char="●"/>
              <a:defRPr sz="18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96" r:id="rId4"/>
    <p:sldLayoutId id="2147483709" r:id="rId5"/>
    <p:sldLayoutId id="214748371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4"/>
          <p:cNvSpPr txBox="1">
            <a:spLocks noGrp="1"/>
          </p:cNvSpPr>
          <p:nvPr>
            <p:ph type="title"/>
          </p:nvPr>
        </p:nvSpPr>
        <p:spPr>
          <a:xfrm>
            <a:off x="457200" y="2932650"/>
            <a:ext cx="82296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sk-SK" sz="4400" dirty="0">
                <a:latin typeface="Sitka Small Semibold" pitchFamily="2" charset="0"/>
              </a:rPr>
              <a:t>Školský Testovací Systém</a:t>
            </a:r>
            <a:endParaRPr sz="4400" dirty="0">
              <a:latin typeface="Sitka Small Semibold" pitchFamily="2" charset="0"/>
            </a:endParaRPr>
          </a:p>
        </p:txBody>
      </p:sp>
      <p:sp>
        <p:nvSpPr>
          <p:cNvPr id="766" name="Google Shape;766;p94"/>
          <p:cNvSpPr txBox="1">
            <a:spLocks noGrp="1"/>
          </p:cNvSpPr>
          <p:nvPr>
            <p:ph type="subTitle" idx="1"/>
          </p:nvPr>
        </p:nvSpPr>
        <p:spPr>
          <a:xfrm>
            <a:off x="457275" y="3649725"/>
            <a:ext cx="82296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Petra </a:t>
            </a:r>
            <a:r>
              <a:rPr lang="sk-SK" sz="1400" dirty="0" err="1"/>
              <a:t>Školová</a:t>
            </a:r>
            <a:r>
              <a:rPr lang="sk-SK" sz="1400" dirty="0"/>
              <a:t>, Sabína </a:t>
            </a:r>
            <a:r>
              <a:rPr lang="sk-SK" sz="1400" dirty="0" err="1"/>
              <a:t>Rucková</a:t>
            </a:r>
            <a:r>
              <a:rPr lang="sk-SK" sz="1400" dirty="0"/>
              <a:t> III.AT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5"/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sk-SK" dirty="0">
                <a:latin typeface="Sitka Small Semibold" pitchFamily="2" charset="0"/>
              </a:rPr>
              <a:t>Cieľ projektu</a:t>
            </a:r>
            <a:endParaRPr dirty="0">
              <a:latin typeface="Sitka Small Semibold" pitchFamily="2" charset="0"/>
            </a:endParaRP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35830105-AAEF-F01E-74EE-81624835C14A}"/>
              </a:ext>
            </a:extLst>
          </p:cNvPr>
          <p:cNvSpPr txBox="1"/>
          <p:nvPr/>
        </p:nvSpPr>
        <p:spPr>
          <a:xfrm>
            <a:off x="1822076" y="1791638"/>
            <a:ext cx="57889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dirty="0">
                <a:solidFill>
                  <a:schemeClr val="bg1"/>
                </a:solidFill>
                <a:latin typeface="+mn-lt"/>
              </a:rPr>
              <a:t>Vytvorenie stabilného prostredia v 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Django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(projekt test-web, apka 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quiz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)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dirty="0">
                <a:solidFill>
                  <a:schemeClr val="bg1"/>
                </a:solidFill>
                <a:latin typeface="+mn-lt"/>
              </a:rPr>
              <a:t>Rozdelenie používateľov na dve roly (Učiteľ a Študent)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dirty="0">
                <a:solidFill>
                  <a:schemeClr val="bg1"/>
                </a:solidFill>
                <a:latin typeface="+mn-lt"/>
              </a:rPr>
              <a:t>Bezpečné a automatické vyhodnocovanie testov na strane servera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dirty="0">
                <a:solidFill>
                  <a:schemeClr val="bg1"/>
                </a:solidFill>
                <a:latin typeface="+mn-lt"/>
              </a:rPr>
              <a:t>Živé nasadenie (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Deployment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) aplikácie na internet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endParaRPr lang="sk-SK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>
          <a:extLst>
            <a:ext uri="{FF2B5EF4-FFF2-40B4-BE49-F238E27FC236}">
              <a16:creationId xmlns:a16="http://schemas.microsoft.com/office/drawing/2014/main" id="{C42E43A1-29BB-0B61-AE56-4DB08193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5">
            <a:extLst>
              <a:ext uri="{FF2B5EF4-FFF2-40B4-BE49-F238E27FC236}">
                <a16:creationId xmlns:a16="http://schemas.microsoft.com/office/drawing/2014/main" id="{C4A933D0-C1D5-23EE-08EA-6BD06BD6544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1544347" y="418131"/>
            <a:ext cx="6813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pt-BR" sz="3200" dirty="0">
                <a:latin typeface="Sitka Small Semibold" pitchFamily="2" charset="0"/>
              </a:rPr>
              <a:t>Databázová architektúra a Vzťah M:N</a:t>
            </a:r>
            <a:endParaRPr sz="3200" dirty="0">
              <a:latin typeface="Sitka Small Semibold" pitchFamily="2" charset="0"/>
            </a:endParaRP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8B906B6A-7349-4D63-6402-D318099FBAA8}"/>
              </a:ext>
            </a:extLst>
          </p:cNvPr>
          <p:cNvSpPr txBox="1"/>
          <p:nvPr/>
        </p:nvSpPr>
        <p:spPr>
          <a:xfrm>
            <a:off x="1822076" y="1791638"/>
            <a:ext cx="57889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b="1" dirty="0">
                <a:solidFill>
                  <a:schemeClr val="bg1"/>
                </a:solidFill>
                <a:latin typeface="+mn-lt"/>
              </a:rPr>
              <a:t>Základné moduly: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Test, 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Question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, 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Answer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, 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Result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b="1" dirty="0">
                <a:solidFill>
                  <a:schemeClr val="bg1"/>
                </a:solidFill>
                <a:latin typeface="+mn-lt"/>
              </a:rPr>
              <a:t>Povinný vzťah </a:t>
            </a:r>
            <a:r>
              <a:rPr lang="sk-SK" b="1" dirty="0" err="1">
                <a:solidFill>
                  <a:schemeClr val="bg1"/>
                </a:solidFill>
                <a:latin typeface="+mn-lt"/>
              </a:rPr>
              <a:t>Many</a:t>
            </a:r>
            <a:r>
              <a:rPr lang="sk-SK" b="1" dirty="0">
                <a:solidFill>
                  <a:schemeClr val="bg1"/>
                </a:solidFill>
                <a:latin typeface="+mn-lt"/>
              </a:rPr>
              <a:t>-to-</a:t>
            </a:r>
            <a:r>
              <a:rPr lang="sk-SK" b="1" dirty="0" err="1">
                <a:solidFill>
                  <a:schemeClr val="bg1"/>
                </a:solidFill>
                <a:latin typeface="+mn-lt"/>
              </a:rPr>
              <a:t>Many</a:t>
            </a:r>
            <a:r>
              <a:rPr lang="sk-SK" b="1" dirty="0">
                <a:solidFill>
                  <a:schemeClr val="bg1"/>
                </a:solidFill>
                <a:latin typeface="+mn-lt"/>
              </a:rPr>
              <a:t> (M:N):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Spojenie medzi Test a 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Question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b="1" dirty="0">
                <a:solidFill>
                  <a:schemeClr val="bg1"/>
                </a:solidFill>
                <a:latin typeface="+mn-lt"/>
              </a:rPr>
              <a:t>Riešenie cez prepojovací model </a:t>
            </a:r>
            <a:r>
              <a:rPr lang="sk-SK" b="1" dirty="0" err="1">
                <a:solidFill>
                  <a:schemeClr val="bg1"/>
                </a:solidFill>
                <a:latin typeface="+mn-lt"/>
              </a:rPr>
              <a:t>TestQuestion</a:t>
            </a:r>
            <a:r>
              <a:rPr lang="sk-SK" b="1" dirty="0">
                <a:solidFill>
                  <a:schemeClr val="bg1"/>
                </a:solidFill>
                <a:latin typeface="+mn-lt"/>
              </a:rPr>
              <a:t>:</a:t>
            </a: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lvl="8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sk-SK" dirty="0">
                <a:solidFill>
                  <a:schemeClr val="bg1"/>
                </a:solidFill>
                <a:latin typeface="+mn-lt"/>
              </a:rPr>
              <a:t>Umožňuje recykláciu jednej otázky vo viacerých testoch súčasne.</a:t>
            </a:r>
          </a:p>
          <a:p>
            <a:pPr marL="285750" lvl="7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sk-SK" dirty="0">
                <a:solidFill>
                  <a:schemeClr val="bg1"/>
                </a:solidFill>
                <a:latin typeface="+mn-lt"/>
              </a:rPr>
              <a:t>Drží špecifické poradie otázok a jedinečné bodovanie v rámci konkrétneho testu</a:t>
            </a:r>
          </a:p>
        </p:txBody>
      </p:sp>
    </p:spTree>
    <p:extLst>
      <p:ext uri="{BB962C8B-B14F-4D97-AF65-F5344CB8AC3E}">
        <p14:creationId xmlns:p14="http://schemas.microsoft.com/office/powerpoint/2010/main" val="4208376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>
          <a:extLst>
            <a:ext uri="{FF2B5EF4-FFF2-40B4-BE49-F238E27FC236}">
              <a16:creationId xmlns:a16="http://schemas.microsoft.com/office/drawing/2014/main" id="{A358B07E-4A98-F14A-1999-A080F3FB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5">
            <a:extLst>
              <a:ext uri="{FF2B5EF4-FFF2-40B4-BE49-F238E27FC236}">
                <a16:creationId xmlns:a16="http://schemas.microsoft.com/office/drawing/2014/main" id="{CC0D1299-E0A2-D420-D2CF-AFC4BE895D4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sk-SK" dirty="0" err="1">
                <a:latin typeface="Sitka Small Semibold" pitchFamily="2" charset="0"/>
              </a:rPr>
              <a:t>Backend</a:t>
            </a:r>
            <a:r>
              <a:rPr lang="sk-SK" dirty="0">
                <a:latin typeface="Sitka Small Semibold" pitchFamily="2" charset="0"/>
              </a:rPr>
              <a:t> a Logika aplikácie</a:t>
            </a:r>
            <a:endParaRPr dirty="0">
              <a:latin typeface="Sitka Small Semibold" pitchFamily="2" charset="0"/>
            </a:endParaRP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9415D9D2-C904-FE2E-BA67-4809504EE3E1}"/>
              </a:ext>
            </a:extLst>
          </p:cNvPr>
          <p:cNvSpPr txBox="1"/>
          <p:nvPr/>
        </p:nvSpPr>
        <p:spPr>
          <a:xfrm>
            <a:off x="1822076" y="1791638"/>
            <a:ext cx="5788959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b="1" dirty="0">
                <a:solidFill>
                  <a:schemeClr val="bg1"/>
                </a:solidFill>
                <a:latin typeface="+mn-lt"/>
              </a:rPr>
              <a:t>Autentifikácia používateľov:</a:t>
            </a: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sk-SK" dirty="0">
                <a:solidFill>
                  <a:schemeClr val="bg1"/>
                </a:solidFill>
                <a:latin typeface="+mn-lt"/>
              </a:rPr>
              <a:t>Učiteľ (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hanka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) – prístup k plnej správe (CRUD) a výsledkom</a:t>
            </a: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sk-SK" dirty="0">
                <a:solidFill>
                  <a:schemeClr val="bg1"/>
                </a:solidFill>
                <a:latin typeface="+mn-lt"/>
              </a:rPr>
              <a:t>Študenti (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janko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, 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igorko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) – prístup len k spúšťaniu publikovaných testov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b="1" dirty="0">
                <a:solidFill>
                  <a:schemeClr val="bg1"/>
                </a:solidFill>
                <a:latin typeface="+mn-lt"/>
              </a:rPr>
              <a:t>Spracovanie POST </a:t>
            </a:r>
            <a:r>
              <a:rPr lang="sk-SK" b="1" dirty="0" err="1">
                <a:solidFill>
                  <a:schemeClr val="bg1"/>
                </a:solidFill>
                <a:latin typeface="+mn-lt"/>
              </a:rPr>
              <a:t>requestu</a:t>
            </a:r>
            <a:r>
              <a:rPr lang="sk-SK" b="1" dirty="0">
                <a:solidFill>
                  <a:schemeClr val="bg1"/>
                </a:solidFill>
                <a:latin typeface="+mn-lt"/>
              </a:rPr>
              <a:t>: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Algoritmus prechádza odpovede študenta, porovnáva ich s príznakom 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spravna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=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True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a ukladá finálny percentuálny zápis do modelu 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Result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b="1" dirty="0">
                <a:solidFill>
                  <a:schemeClr val="bg1"/>
                </a:solidFill>
                <a:latin typeface="+mn-lt"/>
              </a:rPr>
              <a:t>Dynamické filtre (</a:t>
            </a:r>
            <a:r>
              <a:rPr lang="sk-SK" b="1" dirty="0" err="1">
                <a:solidFill>
                  <a:schemeClr val="bg1"/>
                </a:solidFill>
                <a:latin typeface="+mn-lt"/>
              </a:rPr>
              <a:t>request.GET</a:t>
            </a:r>
            <a:r>
              <a:rPr lang="sk-SK" b="1" dirty="0">
                <a:solidFill>
                  <a:schemeClr val="bg1"/>
                </a:solidFill>
                <a:latin typeface="+mn-lt"/>
              </a:rPr>
              <a:t>):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Filtrovanie testov podľa predmetu (pre žiakov), publikácie (pre učiteľov) a vyhľadávanie v tabuľke výsledkov podľa mena alebo triedy (3.AT)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310766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>
          <a:extLst>
            <a:ext uri="{FF2B5EF4-FFF2-40B4-BE49-F238E27FC236}">
              <a16:creationId xmlns:a16="http://schemas.microsoft.com/office/drawing/2014/main" id="{89362185-4D7E-594E-2C67-F64D7264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5">
            <a:extLst>
              <a:ext uri="{FF2B5EF4-FFF2-40B4-BE49-F238E27FC236}">
                <a16:creationId xmlns:a16="http://schemas.microsoft.com/office/drawing/2014/main" id="{B826072D-5445-8C2E-8AE4-8EA9510AEDF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fr-FR" dirty="0">
                <a:latin typeface="Sitka Small Semibold" pitchFamily="2" charset="0"/>
              </a:rPr>
              <a:t>Frontend a Moderné UI/UX</a:t>
            </a:r>
            <a:endParaRPr dirty="0">
              <a:latin typeface="Sitka Small Semibold" pitchFamily="2" charset="0"/>
            </a:endParaRP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0F4596EE-A43C-A62C-3E53-A94772497B0B}"/>
              </a:ext>
            </a:extLst>
          </p:cNvPr>
          <p:cNvSpPr txBox="1"/>
          <p:nvPr/>
        </p:nvSpPr>
        <p:spPr>
          <a:xfrm>
            <a:off x="1822076" y="1791638"/>
            <a:ext cx="57889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b="1" dirty="0">
                <a:solidFill>
                  <a:schemeClr val="bg1"/>
                </a:solidFill>
                <a:latin typeface="+mn-lt"/>
              </a:rPr>
              <a:t>Pixel-</a:t>
            </a:r>
            <a:r>
              <a:rPr lang="sk-SK" b="1" dirty="0" err="1">
                <a:solidFill>
                  <a:schemeClr val="bg1"/>
                </a:solidFill>
                <a:latin typeface="+mn-lt"/>
              </a:rPr>
              <a:t>Perfect</a:t>
            </a:r>
            <a:r>
              <a:rPr lang="sk-SK" b="1" dirty="0">
                <a:solidFill>
                  <a:schemeClr val="bg1"/>
                </a:solidFill>
                <a:latin typeface="+mn-lt"/>
              </a:rPr>
              <a:t> Navigácia: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D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izajn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panela pomocou </a:t>
            </a:r>
            <a:r>
              <a:rPr lang="sk-SK" i="1" dirty="0">
                <a:solidFill>
                  <a:schemeClr val="bg1"/>
                </a:solidFill>
                <a:latin typeface="+mn-lt"/>
              </a:rPr>
              <a:t>CSS </a:t>
            </a:r>
            <a:r>
              <a:rPr lang="sk-SK" i="1" dirty="0" err="1">
                <a:solidFill>
                  <a:schemeClr val="bg1"/>
                </a:solidFill>
                <a:latin typeface="+mn-lt"/>
              </a:rPr>
              <a:t>Flexbox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a oprava chýb vertikálnej osi riadku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b="1" dirty="0">
                <a:solidFill>
                  <a:schemeClr val="bg1"/>
                </a:solidFill>
                <a:latin typeface="+mn-lt"/>
              </a:rPr>
              <a:t>Interaktívne efekty svietenia (</a:t>
            </a:r>
            <a:r>
              <a:rPr lang="sk-SK" b="1" dirty="0" err="1">
                <a:solidFill>
                  <a:schemeClr val="bg1"/>
                </a:solidFill>
                <a:latin typeface="+mn-lt"/>
              </a:rPr>
              <a:t>Glow</a:t>
            </a:r>
            <a:r>
              <a:rPr lang="sk-SK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+mn-lt"/>
              </a:rPr>
              <a:t>Effects</a:t>
            </a:r>
            <a:r>
              <a:rPr lang="sk-SK" b="1" dirty="0">
                <a:solidFill>
                  <a:schemeClr val="bg1"/>
                </a:solidFill>
                <a:latin typeface="+mn-lt"/>
              </a:rPr>
              <a:t>):</a:t>
            </a: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sk-SK" dirty="0">
                <a:solidFill>
                  <a:schemeClr val="bg1"/>
                </a:solidFill>
                <a:latin typeface="+mn-lt"/>
              </a:rPr>
              <a:t>Plynulé 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mikro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-interakcie (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transition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) pri prechode myšou (: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hover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)</a:t>
            </a: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sk-SK" dirty="0">
                <a:solidFill>
                  <a:schemeClr val="bg1"/>
                </a:solidFill>
                <a:latin typeface="+mn-lt"/>
              </a:rPr>
              <a:t>Fialové podsvietenie pre hlavný odkaz </a:t>
            </a:r>
            <a:r>
              <a:rPr lang="sk-SK" i="1" dirty="0" err="1">
                <a:solidFill>
                  <a:schemeClr val="bg1"/>
                </a:solidFill>
                <a:latin typeface="+mn-lt"/>
              </a:rPr>
              <a:t>Dashboard</a:t>
            </a: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sk-SK" dirty="0">
                <a:solidFill>
                  <a:schemeClr val="bg1"/>
                </a:solidFill>
                <a:latin typeface="+mn-lt"/>
              </a:rPr>
              <a:t>Varovné červené podsvietenie a žiara pre tlačidlo </a:t>
            </a:r>
            <a:r>
              <a:rPr lang="sk-SK" i="1" dirty="0">
                <a:solidFill>
                  <a:schemeClr val="bg1"/>
                </a:solidFill>
                <a:latin typeface="+mn-lt"/>
              </a:rPr>
              <a:t>Odhlásiť sa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pre lepšiu intuíciu rozhrania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592915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>
          <a:extLst>
            <a:ext uri="{FF2B5EF4-FFF2-40B4-BE49-F238E27FC236}">
              <a16:creationId xmlns:a16="http://schemas.microsoft.com/office/drawing/2014/main" id="{864E9CC3-4514-A363-5857-91E1C0C9F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5">
            <a:extLst>
              <a:ext uri="{FF2B5EF4-FFF2-40B4-BE49-F238E27FC236}">
                <a16:creationId xmlns:a16="http://schemas.microsoft.com/office/drawing/2014/main" id="{391CB2D7-1A3E-BB7D-12E5-A600699C0AC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sk-SK" dirty="0">
                <a:latin typeface="Sitka Small Semibold" pitchFamily="2" charset="0"/>
              </a:rPr>
              <a:t>Nasadenie (</a:t>
            </a:r>
            <a:r>
              <a:rPr lang="sk-SK" dirty="0" err="1">
                <a:latin typeface="Sitka Small Semibold" pitchFamily="2" charset="0"/>
              </a:rPr>
              <a:t>Deployment</a:t>
            </a:r>
            <a:r>
              <a:rPr lang="sk-SK" dirty="0">
                <a:latin typeface="Sitka Small Semibold" pitchFamily="2" charset="0"/>
              </a:rPr>
              <a:t>) a </a:t>
            </a:r>
            <a:r>
              <a:rPr lang="en-US" dirty="0" err="1">
                <a:latin typeface="Sitka Small Semibold" pitchFamily="2" charset="0"/>
              </a:rPr>
              <a:t>Dokument</a:t>
            </a:r>
            <a:r>
              <a:rPr lang="sk-SK" dirty="0" err="1">
                <a:latin typeface="Sitka Small Semibold" pitchFamily="2" charset="0"/>
              </a:rPr>
              <a:t>ácia</a:t>
            </a:r>
            <a:endParaRPr dirty="0">
              <a:latin typeface="Sitka Small Semibold" pitchFamily="2" charset="0"/>
            </a:endParaRP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05C928CE-F10B-64B4-A790-A494EE87B5B0}"/>
              </a:ext>
            </a:extLst>
          </p:cNvPr>
          <p:cNvSpPr txBox="1"/>
          <p:nvPr/>
        </p:nvSpPr>
        <p:spPr>
          <a:xfrm>
            <a:off x="1700020" y="2100920"/>
            <a:ext cx="578895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b="1" dirty="0">
                <a:solidFill>
                  <a:schemeClr val="bg1"/>
                </a:solidFill>
                <a:latin typeface="+mn-lt"/>
              </a:rPr>
              <a:t>Online </a:t>
            </a:r>
            <a:r>
              <a:rPr lang="sk-SK" b="1" dirty="0" err="1">
                <a:solidFill>
                  <a:schemeClr val="bg1"/>
                </a:solidFill>
                <a:latin typeface="+mn-lt"/>
              </a:rPr>
              <a:t>hosting</a:t>
            </a:r>
            <a:r>
              <a:rPr lang="sk-SK" b="1" dirty="0">
                <a:solidFill>
                  <a:schemeClr val="bg1"/>
                </a:solidFill>
                <a:latin typeface="+mn-lt"/>
              </a:rPr>
              <a:t>: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Úspešné nasadenie na 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free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cloudovú platformu 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pPr>
              <a:buClr>
                <a:schemeClr val="bg1"/>
              </a:buClr>
            </a:pP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b="1" dirty="0">
                <a:solidFill>
                  <a:schemeClr val="bg1"/>
                </a:solidFill>
                <a:latin typeface="+mn-lt"/>
              </a:rPr>
              <a:t>Spoločné testovanie (Bug </a:t>
            </a:r>
            <a:r>
              <a:rPr lang="sk-SK" b="1" dirty="0" err="1">
                <a:solidFill>
                  <a:schemeClr val="bg1"/>
                </a:solidFill>
                <a:latin typeface="+mn-lt"/>
              </a:rPr>
              <a:t>Hunting</a:t>
            </a:r>
            <a:r>
              <a:rPr lang="sk-SK" b="1" dirty="0">
                <a:solidFill>
                  <a:schemeClr val="bg1"/>
                </a:solidFill>
                <a:latin typeface="+mn-lt"/>
              </a:rPr>
              <a:t>):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Eliminácia konfliktov s 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inline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štýlmi pomocou atribútových CSS selektorov, testovanie odozvy a cache prehliadača 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0574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>
          <a:extLst>
            <a:ext uri="{FF2B5EF4-FFF2-40B4-BE49-F238E27FC236}">
              <a16:creationId xmlns:a16="http://schemas.microsoft.com/office/drawing/2014/main" id="{9012104D-AAA2-7759-A5DD-8DC9B237C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5">
            <a:extLst>
              <a:ext uri="{FF2B5EF4-FFF2-40B4-BE49-F238E27FC236}">
                <a16:creationId xmlns:a16="http://schemas.microsoft.com/office/drawing/2014/main" id="{4F64F66C-147F-A125-A0FE-C3A6B35A70D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fr-FR" dirty="0">
                <a:latin typeface="Sitka Small Semibold" pitchFamily="2" charset="0"/>
              </a:rPr>
              <a:t>Frontend a Moderné UI/UX</a:t>
            </a:r>
            <a:endParaRPr dirty="0">
              <a:latin typeface="Sitka Small Semibold" pitchFamily="2" charset="0"/>
            </a:endParaRP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0D280F0F-39B4-38B8-670C-4C4F7098C71E}"/>
              </a:ext>
            </a:extLst>
          </p:cNvPr>
          <p:cNvSpPr txBox="1"/>
          <p:nvPr/>
        </p:nvSpPr>
        <p:spPr>
          <a:xfrm>
            <a:off x="1822076" y="1791638"/>
            <a:ext cx="57889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b="1" dirty="0">
                <a:solidFill>
                  <a:schemeClr val="bg1"/>
                </a:solidFill>
                <a:latin typeface="+mn-lt"/>
              </a:rPr>
              <a:t>Pixel-</a:t>
            </a:r>
            <a:r>
              <a:rPr lang="sk-SK" b="1" dirty="0" err="1">
                <a:solidFill>
                  <a:schemeClr val="bg1"/>
                </a:solidFill>
                <a:latin typeface="+mn-lt"/>
              </a:rPr>
              <a:t>Perfect</a:t>
            </a:r>
            <a:r>
              <a:rPr lang="sk-SK" b="1" dirty="0">
                <a:solidFill>
                  <a:schemeClr val="bg1"/>
                </a:solidFill>
                <a:latin typeface="+mn-lt"/>
              </a:rPr>
              <a:t> Navigácia: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D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izajn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panela pomocou </a:t>
            </a:r>
            <a:r>
              <a:rPr lang="sk-SK" i="1" dirty="0">
                <a:solidFill>
                  <a:schemeClr val="bg1"/>
                </a:solidFill>
                <a:latin typeface="+mn-lt"/>
              </a:rPr>
              <a:t>CSS </a:t>
            </a:r>
            <a:r>
              <a:rPr lang="sk-SK" i="1" dirty="0" err="1">
                <a:solidFill>
                  <a:schemeClr val="bg1"/>
                </a:solidFill>
                <a:latin typeface="+mn-lt"/>
              </a:rPr>
              <a:t>Flexbox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a oprava chýb vertikálnej osi riadku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b="1" dirty="0">
                <a:solidFill>
                  <a:schemeClr val="bg1"/>
                </a:solidFill>
                <a:latin typeface="+mn-lt"/>
              </a:rPr>
              <a:t>Interaktívne efekty svietenia (</a:t>
            </a:r>
            <a:r>
              <a:rPr lang="sk-SK" b="1" dirty="0" err="1">
                <a:solidFill>
                  <a:schemeClr val="bg1"/>
                </a:solidFill>
                <a:latin typeface="+mn-lt"/>
              </a:rPr>
              <a:t>Glow</a:t>
            </a:r>
            <a:r>
              <a:rPr lang="sk-SK" b="1" dirty="0">
                <a:solidFill>
                  <a:schemeClr val="bg1"/>
                </a:solidFill>
                <a:latin typeface="+mn-lt"/>
              </a:rPr>
              <a:t> </a:t>
            </a:r>
            <a:r>
              <a:rPr lang="sk-SK" b="1" dirty="0" err="1">
                <a:solidFill>
                  <a:schemeClr val="bg1"/>
                </a:solidFill>
                <a:latin typeface="+mn-lt"/>
              </a:rPr>
              <a:t>Effects</a:t>
            </a:r>
            <a:r>
              <a:rPr lang="sk-SK" b="1" dirty="0">
                <a:solidFill>
                  <a:schemeClr val="bg1"/>
                </a:solidFill>
                <a:latin typeface="+mn-lt"/>
              </a:rPr>
              <a:t>):</a:t>
            </a: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sk-SK" dirty="0">
                <a:solidFill>
                  <a:schemeClr val="bg1"/>
                </a:solidFill>
                <a:latin typeface="+mn-lt"/>
              </a:rPr>
              <a:t>Plynulé 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mikro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-interakcie (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transition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) pri prechode myšou (: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hover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)</a:t>
            </a: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sk-SK" dirty="0">
                <a:solidFill>
                  <a:schemeClr val="bg1"/>
                </a:solidFill>
                <a:latin typeface="+mn-lt"/>
              </a:rPr>
              <a:t>Fialové podsvietenie pre hlavný odkaz </a:t>
            </a:r>
            <a:r>
              <a:rPr lang="sk-SK" i="1" dirty="0" err="1">
                <a:solidFill>
                  <a:schemeClr val="bg1"/>
                </a:solidFill>
                <a:latin typeface="+mn-lt"/>
              </a:rPr>
              <a:t>Dashboard</a:t>
            </a: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Courier New" panose="02070309020205020404" pitchFamily="49" charset="0"/>
              <a:buChar char="o"/>
            </a:pPr>
            <a:r>
              <a:rPr lang="sk-SK" dirty="0">
                <a:solidFill>
                  <a:schemeClr val="bg1"/>
                </a:solidFill>
                <a:latin typeface="+mn-lt"/>
              </a:rPr>
              <a:t>Varovné červené podsvietenie a žiara pre tlačidlo </a:t>
            </a:r>
            <a:r>
              <a:rPr lang="sk-SK" i="1" dirty="0">
                <a:solidFill>
                  <a:schemeClr val="bg1"/>
                </a:solidFill>
                <a:latin typeface="+mn-lt"/>
              </a:rPr>
              <a:t>Odhlásiť sa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pre lepšiu intuíciu rozhrania</a:t>
            </a:r>
          </a:p>
          <a:p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109695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>
          <a:extLst>
            <a:ext uri="{FF2B5EF4-FFF2-40B4-BE49-F238E27FC236}">
              <a16:creationId xmlns:a16="http://schemas.microsoft.com/office/drawing/2014/main" id="{AC0F5C63-E88D-FE26-31B0-4471E024D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5">
            <a:extLst>
              <a:ext uri="{FF2B5EF4-FFF2-40B4-BE49-F238E27FC236}">
                <a16:creationId xmlns:a16="http://schemas.microsoft.com/office/drawing/2014/main" id="{6B33EB27-6052-4D47-7301-B9127A0757B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fr-FR" dirty="0">
                <a:latin typeface="Sitka Small Semibold" pitchFamily="2" charset="0"/>
              </a:rPr>
              <a:t>Zhrnutie</a:t>
            </a:r>
            <a:endParaRPr dirty="0">
              <a:latin typeface="Sitka Small Semibold" pitchFamily="2" charset="0"/>
            </a:endParaRPr>
          </a:p>
        </p:txBody>
      </p:sp>
      <p:sp>
        <p:nvSpPr>
          <p:cNvPr id="2" name="BlokTextu 1">
            <a:extLst>
              <a:ext uri="{FF2B5EF4-FFF2-40B4-BE49-F238E27FC236}">
                <a16:creationId xmlns:a16="http://schemas.microsoft.com/office/drawing/2014/main" id="{73BB825F-C488-E99B-9655-90D1A116ADE1}"/>
              </a:ext>
            </a:extLst>
          </p:cNvPr>
          <p:cNvSpPr txBox="1"/>
          <p:nvPr/>
        </p:nvSpPr>
        <p:spPr>
          <a:xfrm>
            <a:off x="1822076" y="1791638"/>
            <a:ext cx="578895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dirty="0">
                <a:solidFill>
                  <a:schemeClr val="bg1"/>
                </a:solidFill>
                <a:latin typeface="+mn-lt"/>
              </a:rPr>
              <a:t>Všetky požiadavky a </a:t>
            </a:r>
            <a:r>
              <a:rPr lang="sk-SK" dirty="0" err="1">
                <a:solidFill>
                  <a:schemeClr val="bg1"/>
                </a:solidFill>
                <a:latin typeface="+mn-lt"/>
              </a:rPr>
              <a:t>checkpointy</a:t>
            </a:r>
            <a:r>
              <a:rPr lang="sk-SK" dirty="0">
                <a:solidFill>
                  <a:schemeClr val="bg1"/>
                </a:solidFill>
                <a:latin typeface="+mn-lt"/>
              </a:rPr>
              <a:t> zo zadania boli úspešne splnené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dirty="0">
                <a:solidFill>
                  <a:schemeClr val="bg1"/>
                </a:solidFill>
                <a:latin typeface="+mn-lt"/>
              </a:rPr>
              <a:t>Aplikácia je plne funkčná, optimalizovaná a dostupná online</a:t>
            </a:r>
            <a:endParaRPr lang="en-US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sk-SK" dirty="0">
              <a:solidFill>
                <a:schemeClr val="bg1"/>
              </a:solidFill>
              <a:latin typeface="+mn-lt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sk-SK" dirty="0">
                <a:solidFill>
                  <a:schemeClr val="bg1"/>
                </a:solidFill>
                <a:latin typeface="+mn-lt"/>
              </a:rPr>
              <a:t>Zdrojové kódy, README a technická dokumentácia sú uložené v Git repozitári</a:t>
            </a:r>
            <a:endParaRPr lang="en-US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41459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>
          <a:extLst>
            <a:ext uri="{FF2B5EF4-FFF2-40B4-BE49-F238E27FC236}">
              <a16:creationId xmlns:a16="http://schemas.microsoft.com/office/drawing/2014/main" id="{E67D68A9-5837-0EC8-7D60-C9AA83006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95">
            <a:extLst>
              <a:ext uri="{FF2B5EF4-FFF2-40B4-BE49-F238E27FC236}">
                <a16:creationId xmlns:a16="http://schemas.microsoft.com/office/drawing/2014/main" id="{8F15D46A-C6E0-5D4A-E5AA-E64AF5B8A39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 flipH="1">
            <a:off x="529094" y="1964543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sk-SK" dirty="0">
                <a:latin typeface="Sitka Small Semibold" pitchFamily="2" charset="0"/>
              </a:rPr>
              <a:t>ĎAKUJEME ZA POZORNOSŤ</a:t>
            </a:r>
            <a:endParaRPr dirty="0">
              <a:latin typeface="Sitka Small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239295"/>
      </p:ext>
    </p:extLst>
  </p:cSld>
  <p:clrMapOvr>
    <a:masterClrMapping/>
  </p:clrMapOvr>
</p:sld>
</file>

<file path=ppt/theme/theme1.xml><?xml version="1.0" encoding="utf-8"?>
<a:theme xmlns:a="http://schemas.openxmlformats.org/drawingml/2006/main" name="Tech Startup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8D3CE"/>
      </a:accent1>
      <a:accent2>
        <a:srgbClr val="423864"/>
      </a:accent2>
      <a:accent3>
        <a:srgbClr val="78909C"/>
      </a:accent3>
      <a:accent4>
        <a:srgbClr val="88D3CE"/>
      </a:accent4>
      <a:accent5>
        <a:srgbClr val="0097A7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386</Words>
  <Application>Microsoft Office PowerPoint</Application>
  <PresentationFormat>Prezentácia na obrazovke (16:9)</PresentationFormat>
  <Paragraphs>51</Paragraphs>
  <Slides>9</Slides>
  <Notes>9</Notes>
  <HiddenSlides>0</HiddenSlides>
  <MMClips>0</MMClips>
  <ScaleCrop>false</ScaleCrop>
  <HeadingPairs>
    <vt:vector size="6" baseType="variant">
      <vt:variant>
        <vt:lpstr>Použité písma</vt:lpstr>
      </vt:variant>
      <vt:variant>
        <vt:i4>6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9</vt:i4>
      </vt:variant>
    </vt:vector>
  </HeadingPairs>
  <TitlesOfParts>
    <vt:vector size="16" baseType="lpstr">
      <vt:lpstr>Arial</vt:lpstr>
      <vt:lpstr>Sitka Small Semibold</vt:lpstr>
      <vt:lpstr>Courier New</vt:lpstr>
      <vt:lpstr>Roboto Condensed Light</vt:lpstr>
      <vt:lpstr>Squada One</vt:lpstr>
      <vt:lpstr>Livvic</vt:lpstr>
      <vt:lpstr>Tech Startup XL by Slidesgo</vt:lpstr>
      <vt:lpstr>Školský Testovací Systém</vt:lpstr>
      <vt:lpstr>Cieľ projektu</vt:lpstr>
      <vt:lpstr>Databázová architektúra a Vzťah M:N</vt:lpstr>
      <vt:lpstr>Backend a Logika aplikácie</vt:lpstr>
      <vt:lpstr>Frontend a Moderné UI/UX</vt:lpstr>
      <vt:lpstr>Nasadenie (Deployment) a Dokumentácia</vt:lpstr>
      <vt:lpstr>Frontend a Moderné UI/UX</vt:lpstr>
      <vt:lpstr>Zhrnutie</vt:lpstr>
      <vt:lpstr>ĎAKUJEME ZA POZORNOSŤ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Peter Skola</dc:creator>
  <cp:lastModifiedBy>Peter Skola</cp:lastModifiedBy>
  <cp:revision>4</cp:revision>
  <dcterms:modified xsi:type="dcterms:W3CDTF">2026-06-02T14:35:33Z</dcterms:modified>
</cp:coreProperties>
</file>